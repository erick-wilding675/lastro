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Abertura. Deixar o wordmark no ar por 1-2 segundos antes de começar a falar.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Tese: quando um cliente pede RJ começa o stay period de 180 dias. Pausa de 2s depois de 'Só existe decisão antes'. Diagnóstico: 1.990 RJs (+56,4%), inadimplência de 2,7% a 7,3%, Krilltech vende em 18 estados.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Como funciona (apoio, não precisa ler tudo em voz alta): motor de dois canais, os quatro agentes, e a regra de que o sistema recomenda mas nunca decide.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demonstração: um clique na Agro Vale do Cerrado propaga o risco e quatro clientes acendem, nenhum em atraso hoje. O Ipê Amarelo continua verde: sem vínculo, sem contaminação. A decisão: Sítio Boa Esperança, score 530, rating C, recomendação com prazo. Quem decide é o comitê.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Fecho concreto: equipe, cronograma de 6 meses e investimento de ordem de R$ 366 mil, contra R$ 1,258 milhão já identificados na própria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Fecho. Não cortar esta fala mesmo se o tempo apertar.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0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9784080" y="484632"/>
            <a:ext cx="1106424" cy="704088"/>
          </a:xfrm>
          <a:prstGeom prst="line">
            <a:avLst/>
          </a:prstGeom>
          <a:ln w="12700">
            <a:solidFill>
              <a:srgbClr val="A12A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0890504" y="484632"/>
            <a:ext cx="804672" cy="1005840"/>
          </a:xfrm>
          <a:prstGeom prst="line">
            <a:avLst/>
          </a:prstGeom>
          <a:ln w="12700">
            <a:solidFill>
              <a:srgbClr val="A12A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10488167" y="1490472"/>
            <a:ext cx="1207009" cy="603504"/>
          </a:xfrm>
          <a:prstGeom prst="line">
            <a:avLst/>
          </a:prstGeom>
          <a:ln w="12700">
            <a:solidFill>
              <a:srgbClr val="A12A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9742932" y="1147572"/>
            <a:ext cx="82296" cy="82296"/>
          </a:xfrm>
          <a:prstGeom prst="ellipse">
            <a:avLst/>
          </a:prstGeom>
          <a:solidFill>
            <a:srgbClr val="A12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60786" y="454914"/>
            <a:ext cx="59436" cy="59436"/>
          </a:xfrm>
          <a:prstGeom prst="ellipse">
            <a:avLst/>
          </a:prstGeom>
          <a:solidFill>
            <a:srgbClr val="A12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65457" y="1460754"/>
            <a:ext cx="59436" cy="59436"/>
          </a:xfrm>
          <a:prstGeom prst="ellipse">
            <a:avLst/>
          </a:prstGeom>
          <a:solidFill>
            <a:srgbClr val="A12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58449" y="2064257"/>
            <a:ext cx="59436" cy="59436"/>
          </a:xfrm>
          <a:prstGeom prst="ellipse">
            <a:avLst/>
          </a:prstGeom>
          <a:solidFill>
            <a:srgbClr val="A12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914400" y="4764024"/>
            <a:ext cx="704088" cy="448056"/>
          </a:xfrm>
          <a:prstGeom prst="line">
            <a:avLst/>
          </a:prstGeom>
          <a:ln w="12700">
            <a:solidFill>
              <a:srgbClr val="A12A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618488" y="4764024"/>
            <a:ext cx="512064" cy="640080"/>
          </a:xfrm>
          <a:prstGeom prst="line">
            <a:avLst/>
          </a:prstGeom>
          <a:ln w="12700">
            <a:solidFill>
              <a:srgbClr val="A12A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362456" y="5404104"/>
            <a:ext cx="768096" cy="384048"/>
          </a:xfrm>
          <a:prstGeom prst="line">
            <a:avLst/>
          </a:prstGeom>
          <a:ln w="12700">
            <a:solidFill>
              <a:srgbClr val="A12A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873252" y="5170932"/>
            <a:ext cx="82296" cy="82296"/>
          </a:xfrm>
          <a:prstGeom prst="ellipse">
            <a:avLst/>
          </a:prstGeom>
          <a:solidFill>
            <a:srgbClr val="A12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88770" y="4734306"/>
            <a:ext cx="59436" cy="59436"/>
          </a:xfrm>
          <a:prstGeom prst="ellipse">
            <a:avLst/>
          </a:prstGeom>
          <a:solidFill>
            <a:srgbClr val="A12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00834" y="5374386"/>
            <a:ext cx="59436" cy="59436"/>
          </a:xfrm>
          <a:prstGeom prst="ellipse">
            <a:avLst/>
          </a:prstGeom>
          <a:solidFill>
            <a:srgbClr val="A12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32738" y="5758434"/>
            <a:ext cx="59436" cy="59436"/>
          </a:xfrm>
          <a:prstGeom prst="ellipse">
            <a:avLst/>
          </a:prstGeom>
          <a:solidFill>
            <a:srgbClr val="A12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0" y="233172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400" b="1" i="0" spc="300">
                <a:solidFill>
                  <a:srgbClr val="FFFFFF"/>
                </a:solidFill>
                <a:latin typeface="Cambria"/>
              </a:rPr>
              <a:t>LASTRO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3847" y="34747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1">
                <a:solidFill>
                  <a:srgbClr val="C9C2B4"/>
                </a:solidFill>
                <a:latin typeface="Calibri"/>
              </a:rPr>
              <a:t>Inteligência de risco relacional e recuperação de capital no agro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90007" y="4114800"/>
            <a:ext cx="2011680" cy="18288"/>
          </a:xfrm>
          <a:prstGeom prst="rect">
            <a:avLst/>
          </a:prstGeom>
          <a:solidFill>
            <a:srgbClr val="A12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23847" y="42976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Hackathon PMI-DF 2026  ·  Case Krilltech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3847" y="46634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C9C2B4"/>
                </a:solidFill>
                <a:latin typeface="Calibri"/>
              </a:rPr>
              <a:t>Apresentação: Erick Mendes  ·  Equipe Lastro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0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150">
                <a:solidFill>
                  <a:srgbClr val="A12AEB"/>
                </a:solidFill>
                <a:latin typeface="Calibri"/>
              </a:rPr>
              <a:t>A TESE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>
                <a:solidFill>
                  <a:srgbClr val="FFFFFF"/>
                </a:solidFill>
                <a:latin typeface="Cambria"/>
              </a:rPr>
              <a:t>Depois do pedido de Recuperação Judicial, não existe boa decisão.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A12AEB"/>
                </a:solidFill>
                <a:latin typeface="Cambria"/>
              </a:rPr>
              <a:t>Só existe decisão antes.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C9C2B4"/>
                </a:solidFill>
                <a:latin typeface="Calibri"/>
              </a:rPr>
              <a:t>180 dias de stay period (Lei 11.101/2005, estendida ao produtor rural pela Lei 14.112/2020)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150">
                <a:solidFill>
                  <a:srgbClr val="A12AEB"/>
                </a:solidFill>
                <a:latin typeface="Calibri"/>
              </a:rPr>
              <a:t>O DIAGNÓSTICO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6627" y="3108960"/>
            <a:ext cx="3246120" cy="2148840"/>
          </a:xfrm>
          <a:prstGeom prst="roundRect">
            <a:avLst>
              <a:gd name="adj" fmla="val 6000"/>
            </a:avLst>
          </a:prstGeom>
          <a:solidFill>
            <a:srgbClr val="1B1A17"/>
          </a:solidFill>
          <a:ln w="9525">
            <a:solidFill>
              <a:srgbClr val="2E2C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9507" y="3291840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A12AEB"/>
                </a:solidFill>
                <a:latin typeface="Cambria"/>
              </a:rPr>
              <a:t>1.990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9507" y="3886200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pedidos de RJ no agro em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9507" y="4480560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C99C5A"/>
                </a:solidFill>
                <a:latin typeface="Calibri"/>
              </a:rPr>
              <a:t>+56,4% sobre 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9507" y="489204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8A8A8A"/>
                </a:solidFill>
                <a:latin typeface="Calibri"/>
              </a:rPr>
              <a:t>Serasa Experian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72787" y="3108960"/>
            <a:ext cx="3246120" cy="2148840"/>
          </a:xfrm>
          <a:prstGeom prst="roundRect">
            <a:avLst>
              <a:gd name="adj" fmla="val 6000"/>
            </a:avLst>
          </a:prstGeom>
          <a:solidFill>
            <a:srgbClr val="1B1A17"/>
          </a:solidFill>
          <a:ln w="9525">
            <a:solidFill>
              <a:srgbClr val="2E2C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5667" y="3291840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A12AEB"/>
                </a:solidFill>
                <a:latin typeface="Cambria"/>
              </a:rPr>
              <a:t>2,7% → 7,3%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5667" y="3886200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inadimplência do produtor rural PF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5667" y="4480560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C99C5A"/>
                </a:solidFill>
                <a:latin typeface="Calibri"/>
              </a:rPr>
              <a:t>em 12 meses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5667" y="489204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8A8A8A"/>
                </a:solidFill>
                <a:latin typeface="Calibri"/>
              </a:rPr>
              <a:t>Banco Central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8947" y="3108960"/>
            <a:ext cx="3246120" cy="2148840"/>
          </a:xfrm>
          <a:prstGeom prst="roundRect">
            <a:avLst>
              <a:gd name="adj" fmla="val 6000"/>
            </a:avLst>
          </a:prstGeom>
          <a:solidFill>
            <a:srgbClr val="1B1A17"/>
          </a:solidFill>
          <a:ln w="9525">
            <a:solidFill>
              <a:srgbClr val="2E2C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1827" y="3291840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A12AEB"/>
                </a:solidFill>
                <a:latin typeface="Cambria"/>
              </a:rPr>
              <a:t>8,8%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1827" y="3886200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inadimplência rural no 1T2026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1827" y="4480560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C99C5A"/>
                </a:solidFill>
                <a:latin typeface="Calibri"/>
              </a:rPr>
              <a:t>recorde da série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827" y="489204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8A8A8A"/>
                </a:solidFill>
                <a:latin typeface="Calibri"/>
              </a:rPr>
              <a:t>Serasa Experian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48640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C9C2B4"/>
                </a:solidFill>
                <a:latin typeface="Calibri"/>
              </a:rPr>
              <a:t>A Krilltech vende a prazo, direto ao produtor, em 18 estados. A carteira dela está exatamente nessa população.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9C2B4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150">
                <a:solidFill>
                  <a:srgbClr val="502003"/>
                </a:solidFill>
                <a:latin typeface="Calibri"/>
              </a:rPr>
              <a:t>COMO O LASTRO FUNCIONA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00F"/>
                </a:solidFill>
                <a:latin typeface="Cambria"/>
              </a:rPr>
              <a:t>Rede de risco, dois canais, quatro agentes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5486400" cy="37947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6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00F"/>
                </a:solidFill>
                <a:latin typeface="Calibri"/>
              </a:rPr>
              <a:t>Motor de exposição — dois canais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02003"/>
                </a:solidFill>
                <a:latin typeface="Calibri"/>
              </a:rPr>
              <a:t>ESTRUTURAL · contamina por vínculo jurídico/patrimonial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87752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1100F"/>
                </a:solidFill>
                <a:latin typeface="Calibri"/>
              </a:rPr>
              <a:t>Grupo econômico 0,90  ·  Avalista em comum 0,85  ·  Sócio em comum (QSA) 0,70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A12AEB"/>
                </a:solidFill>
                <a:latin typeface="Calibri"/>
              </a:rPr>
              <a:t>SISTÊMICO · ninguém contamina; todos sofrem a mesma causa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10712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1100F"/>
                </a:solidFill>
                <a:latin typeface="Calibri"/>
              </a:rPr>
              <a:t>Região + cultura 0,75*  ·  Mesma revenda 0,65  ·  Mesma cultura 0,40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8A8A8A"/>
                </a:solidFill>
                <a:latin typeface="Calibri"/>
              </a:rPr>
              <a:t>* peso cheio só com evento regional confirmando o choque (quebra de safra, alerta ZARC, queda de preço em até 365 dias); sem evento, cai para 0,30.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1100F"/>
                </a:solidFill>
                <a:latin typeface="Calibri"/>
              </a:rPr>
              <a:t>Toda exposição guarda o caminho que a gerou.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00200"/>
            <a:ext cx="5166360" cy="37947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6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828800"/>
            <a:ext cx="4617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00F"/>
                </a:solidFill>
                <a:latin typeface="Calibri"/>
              </a:rPr>
              <a:t>Onde entra IA de verdade — 4 agentes</a:t>
            </a:r>
          </a:p>
        </p:txBody>
      </p:sp>
      <p:sp>
        <p:nvSpPr>
          <p:cNvPr id="14" name="Oval 13"/>
          <p:cNvSpPr/>
          <p:nvPr/>
        </p:nvSpPr>
        <p:spPr>
          <a:xfrm>
            <a:off x="6675120" y="2377440"/>
            <a:ext cx="292608" cy="292608"/>
          </a:xfrm>
          <a:prstGeom prst="ellipse">
            <a:avLst/>
          </a:prstGeom>
          <a:solidFill>
            <a:srgbClr val="A12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377440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350008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1100F"/>
                </a:solidFill>
                <a:latin typeface="Calibri"/>
              </a:rPr>
              <a:t>Coletor &amp; Parser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633472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B6472"/>
                </a:solidFill>
                <a:latin typeface="Calibri"/>
              </a:rPr>
              <a:t>lê base pública e PDF, devolve evento com fonte</a:t>
            </a:r>
          </a:p>
        </p:txBody>
      </p:sp>
      <p:sp>
        <p:nvSpPr>
          <p:cNvPr id="18" name="Oval 17"/>
          <p:cNvSpPr/>
          <p:nvPr/>
        </p:nvSpPr>
        <p:spPr>
          <a:xfrm>
            <a:off x="6675120" y="2944368"/>
            <a:ext cx="292608" cy="292608"/>
          </a:xfrm>
          <a:prstGeom prst="ellipse">
            <a:avLst/>
          </a:prstGeom>
          <a:solidFill>
            <a:srgbClr val="A12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944368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2916936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1100F"/>
                </a:solidFill>
                <a:latin typeface="Calibri"/>
              </a:rPr>
              <a:t>Risco Agro &amp; Climático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200400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B6472"/>
                </a:solidFill>
                <a:latin typeface="Calibri"/>
              </a:rPr>
              <a:t>cruza CAR, ZARC, cultura e safra com a região</a:t>
            </a:r>
          </a:p>
        </p:txBody>
      </p:sp>
      <p:sp>
        <p:nvSpPr>
          <p:cNvPr id="22" name="Oval 21"/>
          <p:cNvSpPr/>
          <p:nvPr/>
        </p:nvSpPr>
        <p:spPr>
          <a:xfrm>
            <a:off x="6675120" y="3511296"/>
            <a:ext cx="292608" cy="292608"/>
          </a:xfrm>
          <a:prstGeom prst="ellipse">
            <a:avLst/>
          </a:prstGeom>
          <a:solidFill>
            <a:srgbClr val="A12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3511296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3483864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1100F"/>
                </a:solidFill>
                <a:latin typeface="Calibri"/>
              </a:rPr>
              <a:t>Decisão &amp; Scoring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767328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B6472"/>
                </a:solidFill>
                <a:latin typeface="Calibri"/>
              </a:rPr>
              <a:t>dispara o cálculo e interpreta — não calcula</a:t>
            </a:r>
          </a:p>
        </p:txBody>
      </p:sp>
      <p:sp>
        <p:nvSpPr>
          <p:cNvPr id="26" name="Oval 25"/>
          <p:cNvSpPr/>
          <p:nvPr/>
        </p:nvSpPr>
        <p:spPr>
          <a:xfrm>
            <a:off x="6675120" y="4078224"/>
            <a:ext cx="292608" cy="292608"/>
          </a:xfrm>
          <a:prstGeom prst="ellipse">
            <a:avLst/>
          </a:prstGeom>
          <a:solidFill>
            <a:srgbClr val="A12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407822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4050791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1100F"/>
                </a:solidFill>
                <a:latin typeface="Calibri"/>
              </a:rPr>
              <a:t>Sintetizador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334256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B6472"/>
                </a:solidFill>
                <a:latin typeface="Calibri"/>
              </a:rPr>
              <a:t>redige o parecer citando só números do dossiê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983480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502003"/>
                </a:solidFill>
                <a:latin typeface="Calibri"/>
              </a:rPr>
              <a:t>IA entra onde há texto e ambiguidade. Onde há conta, é query determinística.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623560"/>
            <a:ext cx="10927080" cy="594360"/>
          </a:xfrm>
          <a:prstGeom prst="roundRect">
            <a:avLst>
              <a:gd name="adj" fmla="val 6000"/>
            </a:avLst>
          </a:prstGeom>
          <a:solidFill>
            <a:srgbClr val="111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623560"/>
            <a:ext cx="103784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O Lastro recomenda, nunca decide sozinho  ·  nunca prescreve instrumento jurídico  ·  nunca promete prever falência — mede exposição compartilhada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0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150">
                <a:solidFill>
                  <a:srgbClr val="A12AEB"/>
                </a:solidFill>
                <a:latin typeface="Calibri"/>
              </a:rPr>
              <a:t>A DEMONSTRAÇÃO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</a:rPr>
              <a:t>Um clique. Quatro clientes acendem. Um continua verde.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A12AEB"/>
                </a:solidFill>
                <a:latin typeface="Cambria"/>
              </a:rPr>
              <a:t>R$ 1.258.000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94760" y="1280160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C9C2B4"/>
                </a:solidFill>
                <a:latin typeface="Calibri"/>
              </a:rPr>
              <a:t>de exposição identificada</a:t>
            </a: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C9C2B4"/>
                </a:solidFill>
                <a:latin typeface="Calibri"/>
              </a:rPr>
              <a:t>antes do vencimento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2286000" y="2423160"/>
            <a:ext cx="3474720" cy="2011680"/>
          </a:xfrm>
          <a:prstGeom prst="line">
            <a:avLst/>
          </a:prstGeom>
          <a:ln w="13970">
            <a:solidFill>
              <a:srgbClr val="A12AEB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2286000" y="3246120"/>
            <a:ext cx="5166360" cy="1188720"/>
          </a:xfrm>
          <a:prstGeom prst="line">
            <a:avLst/>
          </a:prstGeom>
          <a:ln w="13970">
            <a:solidFill>
              <a:srgbClr val="A12AEB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286000" y="4434840"/>
            <a:ext cx="5029200" cy="457200"/>
          </a:xfrm>
          <a:prstGeom prst="line">
            <a:avLst/>
          </a:prstGeom>
          <a:ln w="13970">
            <a:solidFill>
              <a:srgbClr val="A12AEB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286000" y="4434840"/>
            <a:ext cx="3337560" cy="1371600"/>
          </a:xfrm>
          <a:prstGeom prst="line">
            <a:avLst/>
          </a:prstGeom>
          <a:ln w="13970">
            <a:solidFill>
              <a:srgbClr val="A12AEB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719072" y="3867911"/>
            <a:ext cx="1133856" cy="1133856"/>
          </a:xfrm>
          <a:prstGeom prst="ellipse">
            <a:avLst/>
          </a:prstGeom>
          <a:solidFill>
            <a:srgbClr val="B23A3A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4133087"/>
            <a:ext cx="113385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Agro Vale</a:t>
            </a:r>
          </a:p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do Cerrado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5056631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C9C2B4"/>
                </a:solidFill>
                <a:latin typeface="Calibri"/>
              </a:rPr>
              <a:t>pediu RJ · rating D</a:t>
            </a:r>
          </a:p>
        </p:txBody>
      </p:sp>
      <p:sp>
        <p:nvSpPr>
          <p:cNvPr id="13" name="Oval 12"/>
          <p:cNvSpPr/>
          <p:nvPr/>
        </p:nvSpPr>
        <p:spPr>
          <a:xfrm>
            <a:off x="5303520" y="1965960"/>
            <a:ext cx="914400" cy="914400"/>
          </a:xfrm>
          <a:prstGeom prst="ellipse">
            <a:avLst/>
          </a:prstGeom>
          <a:solidFill>
            <a:srgbClr val="2E7D5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234439"/>
            <a:ext cx="2286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Terra Nova</a:t>
            </a:r>
          </a:p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grupo econômico · A</a:t>
            </a:r>
          </a:p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R$ 410 mil</a:t>
            </a:r>
          </a:p>
        </p:txBody>
      </p:sp>
      <p:sp>
        <p:nvSpPr>
          <p:cNvPr id="15" name="Oval 14"/>
          <p:cNvSpPr/>
          <p:nvPr/>
        </p:nvSpPr>
        <p:spPr>
          <a:xfrm>
            <a:off x="7068312" y="2862072"/>
            <a:ext cx="768096" cy="768096"/>
          </a:xfrm>
          <a:prstGeom prst="ellipse">
            <a:avLst/>
          </a:prstGeom>
          <a:solidFill>
            <a:srgbClr val="3F7CA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130552"/>
            <a:ext cx="2286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Fazenda Santa Luzia</a:t>
            </a:r>
          </a:p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sócio comum + região · B</a:t>
            </a:r>
          </a:p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R$ 520 mil</a:t>
            </a:r>
          </a:p>
        </p:txBody>
      </p:sp>
      <p:sp>
        <p:nvSpPr>
          <p:cNvPr id="17" name="Oval 16"/>
          <p:cNvSpPr/>
          <p:nvPr/>
        </p:nvSpPr>
        <p:spPr>
          <a:xfrm>
            <a:off x="6967728" y="4544568"/>
            <a:ext cx="694944" cy="694944"/>
          </a:xfrm>
          <a:prstGeom prst="ellipse">
            <a:avLst/>
          </a:prstGeom>
          <a:solidFill>
            <a:srgbClr val="D08C3A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5294375"/>
            <a:ext cx="2286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Agropecuária Horizonte</a:t>
            </a:r>
          </a:p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avalista comum · C</a:t>
            </a:r>
          </a:p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R$ 230 mil</a:t>
            </a:r>
          </a:p>
        </p:txBody>
      </p:sp>
      <p:sp>
        <p:nvSpPr>
          <p:cNvPr id="19" name="Oval 18"/>
          <p:cNvSpPr/>
          <p:nvPr/>
        </p:nvSpPr>
        <p:spPr>
          <a:xfrm>
            <a:off x="5312664" y="5495544"/>
            <a:ext cx="621792" cy="621792"/>
          </a:xfrm>
          <a:prstGeom prst="ellipse">
            <a:avLst/>
          </a:prstGeom>
          <a:solidFill>
            <a:srgbClr val="D08C3A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6172199"/>
            <a:ext cx="2286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Sítio Boa Esperança</a:t>
            </a:r>
          </a:p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região/cultura (Conab) · C</a:t>
            </a:r>
          </a:p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R$ 98 mil</a:t>
            </a:r>
          </a:p>
        </p:txBody>
      </p:sp>
      <p:sp>
        <p:nvSpPr>
          <p:cNvPr id="21" name="Oval 20"/>
          <p:cNvSpPr/>
          <p:nvPr/>
        </p:nvSpPr>
        <p:spPr>
          <a:xfrm>
            <a:off x="758951" y="5330952"/>
            <a:ext cx="585216" cy="585216"/>
          </a:xfrm>
          <a:prstGeom prst="ellipse">
            <a:avLst/>
          </a:prstGeom>
          <a:solidFill>
            <a:srgbClr val="2E7D5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-182880" y="5989320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C9C2B4"/>
                </a:solidFill>
                <a:latin typeface="Calibri"/>
              </a:rPr>
              <a:t>Ipê Amarelo</a:t>
            </a:r>
          </a:p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C9C2B4"/>
                </a:solidFill>
                <a:latin typeface="Calibri"/>
              </a:rPr>
              <a:t>controle · A · sem vínculo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58200" y="1920240"/>
            <a:ext cx="3154680" cy="4160520"/>
          </a:xfrm>
          <a:prstGeom prst="roundRect">
            <a:avLst>
              <a:gd name="adj" fmla="val 5000"/>
            </a:avLst>
          </a:prstGeom>
          <a:solidFill>
            <a:srgbClr val="1B1A17"/>
          </a:solidFill>
          <a:ln w="9525">
            <a:solidFill>
              <a:srgbClr val="2E2C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32520" y="2194560"/>
            <a:ext cx="2606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00">
                <a:solidFill>
                  <a:srgbClr val="A12AEB"/>
                </a:solidFill>
                <a:latin typeface="Calibri"/>
              </a:rPr>
              <a:t>A decisão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260604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Sítio Boa Esperança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3017520"/>
            <a:ext cx="2606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9C2B4"/>
                </a:solidFill>
                <a:latin typeface="Calibri"/>
              </a:rPr>
              <a:t>Score 530 · Rating C · adimplente hoje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3520440"/>
            <a:ext cx="2606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Vínculo: região e cultura com quebra de safra confirmada pela Conab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4389120"/>
            <a:ext cx="2606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Recomendação: reduzir limite e condicionar a próxima venda, com prazo definido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557784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C9C2B4"/>
                </a:solidFill>
                <a:latin typeface="Calibri"/>
              </a:rPr>
              <a:t>Decisão final: comitê de crédito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9C2B4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150">
                <a:solidFill>
                  <a:srgbClr val="502003"/>
                </a:solidFill>
                <a:latin typeface="Calibri"/>
              </a:rPr>
              <a:t>PLANO DE CONCLUSÃO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1100F"/>
                </a:solidFill>
                <a:latin typeface="Cambria"/>
              </a:rPr>
              <a:t>Da demonstração à produção: equipe, prazo e investimento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B6472"/>
                </a:solidFill>
                <a:latin typeface="Calibri"/>
              </a:rPr>
              <a:t>Horizonte de 6 meses, do fim do hackathon até uso ativo pelo comitê de crédito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867" y="1874519"/>
            <a:ext cx="352044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6899" y="2130552"/>
            <a:ext cx="30083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00F"/>
                </a:solidFill>
                <a:latin typeface="Calibri"/>
              </a:rPr>
              <a:t>Equipe</a:t>
            </a:r>
          </a:p>
        </p:txBody>
      </p:sp>
      <p:sp>
        <p:nvSpPr>
          <p:cNvPr id="7" name="Oval 6"/>
          <p:cNvSpPr/>
          <p:nvPr/>
        </p:nvSpPr>
        <p:spPr>
          <a:xfrm>
            <a:off x="815187" y="2670047"/>
            <a:ext cx="54864" cy="54864"/>
          </a:xfrm>
          <a:prstGeom prst="ellipse">
            <a:avLst/>
          </a:prstGeom>
          <a:solidFill>
            <a:srgbClr val="A12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9779" y="2606039"/>
            <a:ext cx="28254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1100F"/>
                </a:solidFill>
                <a:latin typeface="Calibri"/>
              </a:rPr>
              <a:t>Tech Lead / Arquiteto (integral, 6 meses)</a:t>
            </a:r>
          </a:p>
        </p:txBody>
      </p:sp>
      <p:sp>
        <p:nvSpPr>
          <p:cNvPr id="9" name="Oval 8"/>
          <p:cNvSpPr/>
          <p:nvPr/>
        </p:nvSpPr>
        <p:spPr>
          <a:xfrm>
            <a:off x="815187" y="3154679"/>
            <a:ext cx="54864" cy="54864"/>
          </a:xfrm>
          <a:prstGeom prst="ellipse">
            <a:avLst/>
          </a:prstGeom>
          <a:solidFill>
            <a:srgbClr val="A12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9779" y="3090672"/>
            <a:ext cx="28254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1100F"/>
                </a:solidFill>
                <a:latin typeface="Calibri"/>
              </a:rPr>
              <a:t>2 Engenheiros de Dados / Backend (integral)</a:t>
            </a:r>
          </a:p>
        </p:txBody>
      </p:sp>
      <p:sp>
        <p:nvSpPr>
          <p:cNvPr id="11" name="Oval 10"/>
          <p:cNvSpPr/>
          <p:nvPr/>
        </p:nvSpPr>
        <p:spPr>
          <a:xfrm>
            <a:off x="815187" y="3639312"/>
            <a:ext cx="54864" cy="54864"/>
          </a:xfrm>
          <a:prstGeom prst="ellipse">
            <a:avLst/>
          </a:prstGeom>
          <a:solidFill>
            <a:srgbClr val="A12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9779" y="3575304"/>
            <a:ext cx="28254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1100F"/>
                </a:solidFill>
                <a:latin typeface="Calibri"/>
              </a:rPr>
              <a:t>Engenheiro Frontend (integral, 4 meses)</a:t>
            </a:r>
          </a:p>
        </p:txBody>
      </p:sp>
      <p:sp>
        <p:nvSpPr>
          <p:cNvPr id="13" name="Oval 12"/>
          <p:cNvSpPr/>
          <p:nvPr/>
        </p:nvSpPr>
        <p:spPr>
          <a:xfrm>
            <a:off x="815187" y="4123944"/>
            <a:ext cx="54864" cy="54864"/>
          </a:xfrm>
          <a:prstGeom prst="ellipse">
            <a:avLst/>
          </a:prstGeom>
          <a:solidFill>
            <a:srgbClr val="A12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9779" y="4059936"/>
            <a:ext cx="28254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1100F"/>
                </a:solidFill>
                <a:latin typeface="Calibri"/>
              </a:rPr>
              <a:t>Analista de Fontes Públicas (integral → parcial)</a:t>
            </a:r>
          </a:p>
        </p:txBody>
      </p:sp>
      <p:sp>
        <p:nvSpPr>
          <p:cNvPr id="15" name="Oval 14"/>
          <p:cNvSpPr/>
          <p:nvPr/>
        </p:nvSpPr>
        <p:spPr>
          <a:xfrm>
            <a:off x="815187" y="4608576"/>
            <a:ext cx="54864" cy="54864"/>
          </a:xfrm>
          <a:prstGeom prst="ellipse">
            <a:avLst/>
          </a:prstGeom>
          <a:solidFill>
            <a:srgbClr val="A12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9779" y="4544568"/>
            <a:ext cx="28254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1100F"/>
                </a:solidFill>
                <a:latin typeface="Calibri"/>
              </a:rPr>
              <a:t>Especialista de Domínio (consultoria pontual)</a:t>
            </a:r>
          </a:p>
        </p:txBody>
      </p:sp>
      <p:sp>
        <p:nvSpPr>
          <p:cNvPr id="17" name="Oval 16"/>
          <p:cNvSpPr/>
          <p:nvPr/>
        </p:nvSpPr>
        <p:spPr>
          <a:xfrm>
            <a:off x="815187" y="5093208"/>
            <a:ext cx="54864" cy="54864"/>
          </a:xfrm>
          <a:prstGeom prst="ellipse">
            <a:avLst/>
          </a:prstGeom>
          <a:solidFill>
            <a:srgbClr val="A12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9779" y="5029200"/>
            <a:ext cx="28254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1100F"/>
                </a:solidFill>
                <a:latin typeface="Calibri"/>
              </a:rPr>
              <a:t>Ponto focal da Krilltech (meio período, mês 2+)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5627" y="1874519"/>
            <a:ext cx="352044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1659" y="2130552"/>
            <a:ext cx="30083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00F"/>
                </a:solidFill>
                <a:latin typeface="Calibri"/>
              </a:rPr>
              <a:t>Cronograma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1659" y="2606039"/>
            <a:ext cx="300837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50">
                <a:solidFill>
                  <a:srgbClr val="A12AEB"/>
                </a:solidFill>
                <a:latin typeface="Calibri"/>
              </a:rPr>
              <a:t>MÊS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1659" y="2825496"/>
            <a:ext cx="30083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1100F"/>
                </a:solidFill>
                <a:latin typeface="Calibri"/>
              </a:rPr>
              <a:t>Conexão e fundação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1659" y="3090672"/>
            <a:ext cx="30083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5B6472"/>
                </a:solidFill>
                <a:latin typeface="Calibri"/>
              </a:rPr>
              <a:t>base real da Krilltech, mapeamento de vínculos via QSA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1659" y="3383279"/>
            <a:ext cx="300837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50">
                <a:solidFill>
                  <a:srgbClr val="A12AEB"/>
                </a:solidFill>
                <a:latin typeface="Calibri"/>
              </a:rPr>
              <a:t>MESES 2–3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1659" y="3602735"/>
            <a:ext cx="30083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1100F"/>
                </a:solidFill>
                <a:latin typeface="Calibri"/>
              </a:rPr>
              <a:t>Automação e modo sombra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1659" y="3867911"/>
            <a:ext cx="30083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5B6472"/>
                </a:solidFill>
                <a:latin typeface="Calibri"/>
              </a:rPr>
              <a:t>coleta contínua; sistema roda ao lado do processo atual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1659" y="4160520"/>
            <a:ext cx="300837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50">
                <a:solidFill>
                  <a:srgbClr val="A12AEB"/>
                </a:solidFill>
                <a:latin typeface="Calibri"/>
              </a:rPr>
              <a:t>MESES 4–5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1659" y="4379976"/>
            <a:ext cx="30083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1100F"/>
                </a:solidFill>
                <a:latin typeface="Calibri"/>
              </a:rPr>
              <a:t>Validação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1659" y="4645152"/>
            <a:ext cx="30083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5B6472"/>
                </a:solidFill>
                <a:latin typeface="Calibri"/>
              </a:rPr>
              <a:t>comparação dos alertas; calibração em 6, 12 e 24 meses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1659" y="4937759"/>
            <a:ext cx="300837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50">
                <a:solidFill>
                  <a:srgbClr val="A12AEB"/>
                </a:solidFill>
                <a:latin typeface="Calibri"/>
              </a:rPr>
              <a:t>MÊS 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1659" y="5157216"/>
            <a:ext cx="30083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1100F"/>
                </a:solidFill>
                <a:latin typeface="Calibri"/>
              </a:rPr>
              <a:t>Virada para produção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1659" y="5422392"/>
            <a:ext cx="30083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5B6472"/>
                </a:solidFill>
                <a:latin typeface="Calibri"/>
              </a:rPr>
              <a:t>uso ativo pelo comitê de crédito; treinamento das equipes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0387" y="1874519"/>
            <a:ext cx="3520440" cy="4114800"/>
          </a:xfrm>
          <a:prstGeom prst="roundRect">
            <a:avLst>
              <a:gd name="adj" fmla="val 5000"/>
            </a:avLst>
          </a:prstGeom>
          <a:solidFill>
            <a:srgbClr val="111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86419" y="2130552"/>
            <a:ext cx="30083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Investimento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6419" y="2606039"/>
            <a:ext cx="3008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A12AEB"/>
                </a:solidFill>
                <a:latin typeface="Cambria"/>
              </a:rPr>
              <a:t>≈ R$ 366 mil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6419" y="3200400"/>
            <a:ext cx="3008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para os 6 meses até produção (equipe + infraestrutura)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6419" y="3840479"/>
            <a:ext cx="30083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9C2B4"/>
                </a:solidFill>
                <a:latin typeface="Calibri"/>
              </a:rPr>
              <a:t>Equipe R$ 331 mil  ·  Infra R$ 35 mil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386419" y="4251960"/>
            <a:ext cx="3008376" cy="0"/>
          </a:xfrm>
          <a:prstGeom prst="line">
            <a:avLst/>
          </a:prstGeom>
          <a:ln w="9525">
            <a:solidFill>
              <a:srgbClr val="3A38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386419" y="4389120"/>
            <a:ext cx="300837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mbria"/>
              </a:rPr>
              <a:t>R$ 1.258.000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6419" y="4800600"/>
            <a:ext cx="3008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C9C2B4"/>
                </a:solidFill>
                <a:latin typeface="Calibri"/>
              </a:rPr>
              <a:t>em exposição já identificada só no cenário de demonstração — já cobre o investimento do semestre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172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1">
                <a:solidFill>
                  <a:srgbClr val="8A8A8A"/>
                </a:solidFill>
                <a:latin typeface="Calibri"/>
              </a:rPr>
              <a:t>Ordem de grandeza, hipótese declarada — não cotação fechada.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0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914400" y="489204"/>
            <a:ext cx="955548" cy="608076"/>
          </a:xfrm>
          <a:prstGeom prst="line">
            <a:avLst/>
          </a:prstGeom>
          <a:ln w="12700">
            <a:solidFill>
              <a:srgbClr val="A12A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869948" y="489204"/>
            <a:ext cx="694943" cy="868680"/>
          </a:xfrm>
          <a:prstGeom prst="line">
            <a:avLst/>
          </a:prstGeom>
          <a:ln w="12700">
            <a:solidFill>
              <a:srgbClr val="A12A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1522476" y="1357884"/>
            <a:ext cx="1042415" cy="521207"/>
          </a:xfrm>
          <a:prstGeom prst="line">
            <a:avLst/>
          </a:prstGeom>
          <a:ln w="12700">
            <a:solidFill>
              <a:srgbClr val="A12A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873252" y="1056132"/>
            <a:ext cx="82296" cy="82296"/>
          </a:xfrm>
          <a:prstGeom prst="ellipse">
            <a:avLst/>
          </a:prstGeom>
          <a:solidFill>
            <a:srgbClr val="A12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40229" y="459486"/>
            <a:ext cx="59436" cy="59436"/>
          </a:xfrm>
          <a:prstGeom prst="ellipse">
            <a:avLst/>
          </a:prstGeom>
          <a:solidFill>
            <a:srgbClr val="A12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535173" y="1328166"/>
            <a:ext cx="59436" cy="59436"/>
          </a:xfrm>
          <a:prstGeom prst="ellipse">
            <a:avLst/>
          </a:prstGeom>
          <a:solidFill>
            <a:srgbClr val="A12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92758" y="1849373"/>
            <a:ext cx="59436" cy="59436"/>
          </a:xfrm>
          <a:prstGeom prst="ellipse">
            <a:avLst/>
          </a:prstGeom>
          <a:solidFill>
            <a:srgbClr val="A12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9966960" y="4640579"/>
            <a:ext cx="754380" cy="480061"/>
          </a:xfrm>
          <a:prstGeom prst="line">
            <a:avLst/>
          </a:prstGeom>
          <a:ln w="12700">
            <a:solidFill>
              <a:srgbClr val="A12A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721340" y="4640579"/>
            <a:ext cx="548640" cy="685800"/>
          </a:xfrm>
          <a:prstGeom prst="line">
            <a:avLst/>
          </a:prstGeom>
          <a:ln w="12700">
            <a:solidFill>
              <a:srgbClr val="A12A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447020" y="5326379"/>
            <a:ext cx="822960" cy="411480"/>
          </a:xfrm>
          <a:prstGeom prst="line">
            <a:avLst/>
          </a:prstGeom>
          <a:ln w="12700">
            <a:solidFill>
              <a:srgbClr val="A12A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9925812" y="5079492"/>
            <a:ext cx="82296" cy="82296"/>
          </a:xfrm>
          <a:prstGeom prst="ellipse">
            <a:avLst/>
          </a:prstGeom>
          <a:solidFill>
            <a:srgbClr val="A12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1622" y="4610862"/>
            <a:ext cx="59436" cy="59436"/>
          </a:xfrm>
          <a:prstGeom prst="ellipse">
            <a:avLst/>
          </a:prstGeom>
          <a:solidFill>
            <a:srgbClr val="A12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240261" y="5296662"/>
            <a:ext cx="59436" cy="59436"/>
          </a:xfrm>
          <a:prstGeom prst="ellipse">
            <a:avLst/>
          </a:prstGeom>
          <a:solidFill>
            <a:srgbClr val="A12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17302" y="5708142"/>
            <a:ext cx="59436" cy="59436"/>
          </a:xfrm>
          <a:prstGeom prst="ellipse">
            <a:avLst/>
          </a:prstGeom>
          <a:solidFill>
            <a:srgbClr val="A12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0" y="2286000"/>
            <a:ext cx="121916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mbria"/>
              </a:rPr>
              <a:t>O mesmo negócio.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2971800"/>
            <a:ext cx="121916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A12AEB"/>
                </a:solidFill>
                <a:latin typeface="Cambria"/>
              </a:rPr>
              <a:t>Fechando o ciclo.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3847" y="388620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1">
                <a:solidFill>
                  <a:srgbClr val="C9C2B4"/>
                </a:solidFill>
                <a:latin typeface="Calibri"/>
              </a:rPr>
              <a:t>A Krilltech otimiza a lavoura do cliente. O Lastro entrega a mesma inteligência sobre a saúde financeira de quem compra dela.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90007" y="4892040"/>
            <a:ext cx="2011680" cy="18288"/>
          </a:xfrm>
          <a:prstGeom prst="rect">
            <a:avLst/>
          </a:prstGeom>
          <a:solidFill>
            <a:srgbClr val="A12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0" y="507492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 spc="250">
                <a:solidFill>
                  <a:srgbClr val="FFFFFF"/>
                </a:solidFill>
                <a:latin typeface="Cambria"/>
              </a:rPr>
              <a:t>LASTRO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566928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A8A8A"/>
                </a:solidFill>
                <a:latin typeface="Calibri"/>
              </a:rPr>
              <a:t>Obrigado · Equipe Lastro · Hackathon PMI-DF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